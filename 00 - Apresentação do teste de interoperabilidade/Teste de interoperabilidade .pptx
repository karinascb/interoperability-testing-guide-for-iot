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Oswald"/>
      <p:regular r:id="rId19"/>
      <p:bold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iRnQR0d0QsaMhAyHxSIxOzxUti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bold.fntdata"/><Relationship Id="rId22" Type="http://schemas.openxmlformats.org/officeDocument/2006/relationships/font" Target="fonts/OpenSans-bold.fntdata"/><Relationship Id="rId21" Type="http://schemas.openxmlformats.org/officeDocument/2006/relationships/font" Target="fonts/OpenSans-regular.fntdata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Oswa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399" cy="30860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 txBox="1"/>
          <p:nvPr>
            <p:ph idx="1" type="body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40" name="Google Shape;1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9e814c3309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47" name="Google Shape;147;g19e814c3309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9e814c3309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br>
              <a:rPr lang="pt-BR"/>
            </a:br>
            <a:endParaRPr/>
          </a:p>
        </p:txBody>
      </p:sp>
      <p:sp>
        <p:nvSpPr>
          <p:cNvPr id="156" name="Google Shape;156;g19e814c3309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a0fe2b556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2a0fe2b556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7" name="Google Shape;167;g2a0fe2b556f_0_0:notes"/>
          <p:cNvSpPr txBox="1"/>
          <p:nvPr>
            <p:ph idx="12" type="sldNum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eb5708ce56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7" name="Google Shape;177;g1eb5708ce56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9e814c3309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19e814c3309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87" name="Google Shape;187;g19e814c3309_0_116:notes"/>
          <p:cNvSpPr txBox="1"/>
          <p:nvPr>
            <p:ph idx="12" type="sldNum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a0fe2b556f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97" name="Google Shape;197;g2a0fe2b556f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a0fe2b556f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2a0fe2b556f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07" name="Google Shape;207;g2a0fe2b556f_0_9:notes"/>
          <p:cNvSpPr txBox="1"/>
          <p:nvPr>
            <p:ph idx="12" type="sldNum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a0fe2b556f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2a0fe2b556f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16" name="Google Shape;216;g2a0fe2b556f_0_27:notes"/>
          <p:cNvSpPr txBox="1"/>
          <p:nvPr>
            <p:ph idx="12" type="sldNum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a0fe2b556f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2a0fe2b556f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5" name="Google Shape;225;g2a0fe2b556f_0_35:notes"/>
          <p:cNvSpPr txBox="1"/>
          <p:nvPr>
            <p:ph idx="12" type="sldNum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a0fe2b556f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2a0fe2b556f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34" name="Google Shape;234;g2a0fe2b556f_0_19:notes"/>
          <p:cNvSpPr txBox="1"/>
          <p:nvPr>
            <p:ph idx="12" type="sldNum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a0fe2b556f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2a0fe2b556f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43" name="Google Shape;243;g2a0fe2b556f_0_53:notes"/>
          <p:cNvSpPr txBox="1"/>
          <p:nvPr>
            <p:ph idx="12" type="sldNum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91210b55b8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191210b55b8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/>
              <a:t>Média de 25 slides </a:t>
            </a:r>
            <a:endParaRPr/>
          </a:p>
        </p:txBody>
      </p:sp>
      <p:sp>
        <p:nvSpPr>
          <p:cNvPr id="252" name="Google Shape;252;g191210b55b8_0_118:notes"/>
          <p:cNvSpPr txBox="1"/>
          <p:nvPr>
            <p:ph idx="12" type="sldNum"/>
          </p:nvPr>
        </p:nvSpPr>
        <p:spPr>
          <a:xfrm>
            <a:off x="3884612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Slide de título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9"/>
          <p:cNvSpPr/>
          <p:nvPr/>
        </p:nvSpPr>
        <p:spPr>
          <a:xfrm>
            <a:off x="0" y="-12701"/>
            <a:ext cx="12192000" cy="84930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9"/>
          <p:cNvSpPr txBox="1"/>
          <p:nvPr>
            <p:ph type="ctrTitle"/>
          </p:nvPr>
        </p:nvSpPr>
        <p:spPr>
          <a:xfrm>
            <a:off x="1523983" y="1060444"/>
            <a:ext cx="9144000" cy="18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None/>
              <a:defRPr b="0" i="0" sz="6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" type="body"/>
          </p:nvPr>
        </p:nvSpPr>
        <p:spPr>
          <a:xfrm>
            <a:off x="1524000" y="3615419"/>
            <a:ext cx="91440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9"/>
          <p:cNvSpPr/>
          <p:nvPr/>
        </p:nvSpPr>
        <p:spPr>
          <a:xfrm>
            <a:off x="0" y="6718300"/>
            <a:ext cx="12192000" cy="13970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9"/>
          <p:cNvSpPr txBox="1"/>
          <p:nvPr/>
        </p:nvSpPr>
        <p:spPr>
          <a:xfrm>
            <a:off x="2090550" y="268849"/>
            <a:ext cx="80109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2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WTDG 2023 - Workshop de Teses e Dissertações do GREat 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ww.ufc.br/images/_images/a_universidade/identidade_visual/brasao/brasao1_horizontal_cor_300dpi.png" id="16" name="Google Shape;1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7388" y="5796733"/>
            <a:ext cx="2736304" cy="737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0356" y="5749892"/>
            <a:ext cx="2304256" cy="830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19"/>
          <p:cNvGrpSpPr/>
          <p:nvPr/>
        </p:nvGrpSpPr>
        <p:grpSpPr>
          <a:xfrm>
            <a:off x="5357215" y="5799924"/>
            <a:ext cx="1909617" cy="731055"/>
            <a:chOff x="3485470" y="3257634"/>
            <a:chExt cx="5126488" cy="1927888"/>
          </a:xfrm>
        </p:grpSpPr>
        <p:pic>
          <p:nvPicPr>
            <p:cNvPr descr="Resultado de imagem para MDCC UFC" id="19" name="Google Shape;19;p19"/>
            <p:cNvPicPr preferRelativeResize="0"/>
            <p:nvPr/>
          </p:nvPicPr>
          <p:blipFill rotWithShape="1">
            <a:blip r:embed="rId4">
              <a:alphaModFix/>
            </a:blip>
            <a:srcRect b="24002" l="8283" r="21639" t="64460"/>
            <a:stretch/>
          </p:blipFill>
          <p:spPr>
            <a:xfrm>
              <a:off x="3485470" y="4763596"/>
              <a:ext cx="5126488" cy="4219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Resultado de imagem para MDCC UFC" id="20" name="Google Shape;20;p19"/>
            <p:cNvPicPr preferRelativeResize="0"/>
            <p:nvPr/>
          </p:nvPicPr>
          <p:blipFill rotWithShape="1">
            <a:blip r:embed="rId5">
              <a:alphaModFix/>
            </a:blip>
            <a:srcRect b="28871" l="4838" r="2634" t="5584"/>
            <a:stretch/>
          </p:blipFill>
          <p:spPr>
            <a:xfrm>
              <a:off x="3600449" y="3257634"/>
              <a:ext cx="4896530" cy="15059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838200" y="889000"/>
            <a:ext cx="105156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C8A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E6C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839788" y="2060575"/>
            <a:ext cx="10512425" cy="3960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http://ufc.br/images/_images/a_universidade/identidade_visual/brasao/brasao3_horizontal_cor_72dpi.png" id="24" name="Google Shape;2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6173" y="98932"/>
            <a:ext cx="815931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6178" y="50716"/>
            <a:ext cx="1034238" cy="456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MDCC UFC" id="26" name="Google Shape;26;p27"/>
          <p:cNvPicPr preferRelativeResize="0"/>
          <p:nvPr/>
        </p:nvPicPr>
        <p:blipFill rotWithShape="1">
          <a:blip r:embed="rId4">
            <a:alphaModFix/>
          </a:blip>
          <a:srcRect b="28871" l="4838" r="2642" t="5585"/>
          <a:stretch/>
        </p:blipFill>
        <p:spPr>
          <a:xfrm>
            <a:off x="10035058" y="129037"/>
            <a:ext cx="957486" cy="29979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7"/>
          <p:cNvSpPr/>
          <p:nvPr/>
        </p:nvSpPr>
        <p:spPr>
          <a:xfrm>
            <a:off x="0" y="6205618"/>
            <a:ext cx="12192000" cy="65250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7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" name="Google Shape;29;p27"/>
          <p:cNvSpPr txBox="1"/>
          <p:nvPr/>
        </p:nvSpPr>
        <p:spPr>
          <a:xfrm>
            <a:off x="0" y="6358725"/>
            <a:ext cx="249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WTDG 2022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27"/>
          <p:cNvCxnSpPr/>
          <p:nvPr/>
        </p:nvCxnSpPr>
        <p:spPr>
          <a:xfrm>
            <a:off x="2495600" y="6205618"/>
            <a:ext cx="0" cy="652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27"/>
          <p:cNvSpPr txBox="1"/>
          <p:nvPr/>
        </p:nvSpPr>
        <p:spPr>
          <a:xfrm>
            <a:off x="2783632" y="6316409"/>
            <a:ext cx="6192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Federal do Ceará</a:t>
            </a:r>
            <a:br>
              <a:rPr b="0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Fortaleza, Ceará, </a:t>
            </a: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 de novembro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de Secao">
  <p:cSld name="1_Slide de Secao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/>
          <p:nvPr/>
        </p:nvSpPr>
        <p:spPr>
          <a:xfrm>
            <a:off x="9336360" y="0"/>
            <a:ext cx="2855640" cy="685800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4"/>
          <p:cNvSpPr txBox="1"/>
          <p:nvPr>
            <p:ph type="ctrTitle"/>
          </p:nvPr>
        </p:nvSpPr>
        <p:spPr>
          <a:xfrm>
            <a:off x="801112" y="3276712"/>
            <a:ext cx="8031192" cy="11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None/>
              <a:defRPr b="0" i="0" sz="6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24"/>
          <p:cNvSpPr/>
          <p:nvPr/>
        </p:nvSpPr>
        <p:spPr>
          <a:xfrm rot="-520825">
            <a:off x="8770213" y="70960"/>
            <a:ext cx="1198417" cy="67414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4"/>
          <p:cNvSpPr/>
          <p:nvPr/>
        </p:nvSpPr>
        <p:spPr>
          <a:xfrm rot="-521169">
            <a:off x="9270397" y="5311926"/>
            <a:ext cx="1110436" cy="16847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4"/>
          <p:cNvSpPr/>
          <p:nvPr/>
        </p:nvSpPr>
        <p:spPr>
          <a:xfrm flipH="1" rot="-5400000">
            <a:off x="-214533" y="3421200"/>
            <a:ext cx="1398000" cy="15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4"/>
          <p:cNvSpPr/>
          <p:nvPr/>
        </p:nvSpPr>
        <p:spPr>
          <a:xfrm>
            <a:off x="8543125" y="0"/>
            <a:ext cx="900300" cy="65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/>
          <p:nvPr/>
        </p:nvSpPr>
        <p:spPr>
          <a:xfrm>
            <a:off x="8243467" y="6576325"/>
            <a:ext cx="900300" cy="18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ítulo e conteúdo">
  <p:cSld name="3_Título e conteúdo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334600" y="-13275"/>
            <a:ext cx="466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21"/>
          <p:cNvSpPr txBox="1"/>
          <p:nvPr>
            <p:ph idx="2" type="title"/>
          </p:nvPr>
        </p:nvSpPr>
        <p:spPr>
          <a:xfrm>
            <a:off x="838200" y="889000"/>
            <a:ext cx="105156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C8A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E6C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43" name="Google Shape;43;p21"/>
          <p:cNvCxnSpPr/>
          <p:nvPr/>
        </p:nvCxnSpPr>
        <p:spPr>
          <a:xfrm>
            <a:off x="334600" y="-13333"/>
            <a:ext cx="0" cy="590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21"/>
          <p:cNvSpPr/>
          <p:nvPr/>
        </p:nvSpPr>
        <p:spPr>
          <a:xfrm>
            <a:off x="0" y="6205618"/>
            <a:ext cx="12192000" cy="65250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http://ufc.br/images/_images/a_universidade/identidade_visual/brasao/brasao3_horizontal_cor_72dpi.png" id="46" name="Google Shape;4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6173" y="98932"/>
            <a:ext cx="815931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6178" y="50716"/>
            <a:ext cx="1034238" cy="456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MDCC UFC" id="48" name="Google Shape;48;p21"/>
          <p:cNvPicPr preferRelativeResize="0"/>
          <p:nvPr/>
        </p:nvPicPr>
        <p:blipFill rotWithShape="1">
          <a:blip r:embed="rId4">
            <a:alphaModFix/>
          </a:blip>
          <a:srcRect b="28871" l="4838" r="2642" t="5585"/>
          <a:stretch/>
        </p:blipFill>
        <p:spPr>
          <a:xfrm>
            <a:off x="10035058" y="129037"/>
            <a:ext cx="957486" cy="29979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1"/>
          <p:cNvSpPr txBox="1"/>
          <p:nvPr>
            <p:ph idx="1" type="body"/>
          </p:nvPr>
        </p:nvSpPr>
        <p:spPr>
          <a:xfrm>
            <a:off x="839788" y="2060575"/>
            <a:ext cx="10512425" cy="3960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7405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21"/>
          <p:cNvSpPr txBox="1"/>
          <p:nvPr/>
        </p:nvSpPr>
        <p:spPr>
          <a:xfrm>
            <a:off x="0" y="6358725"/>
            <a:ext cx="249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WTDG 2023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" name="Google Shape;51;p21"/>
          <p:cNvCxnSpPr/>
          <p:nvPr/>
        </p:nvCxnSpPr>
        <p:spPr>
          <a:xfrm>
            <a:off x="2495600" y="6205618"/>
            <a:ext cx="0" cy="652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21"/>
          <p:cNvSpPr txBox="1"/>
          <p:nvPr/>
        </p:nvSpPr>
        <p:spPr>
          <a:xfrm>
            <a:off x="2783632" y="6316409"/>
            <a:ext cx="6192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Federal do Ceará</a:t>
            </a:r>
            <a:br>
              <a:rPr b="0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Fortaleza, Ceará, 17 de novembro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ítulo e conteúdo">
  <p:cSld name="4_Título e conteúdo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60"/>
          <p:cNvCxnSpPr/>
          <p:nvPr/>
        </p:nvCxnSpPr>
        <p:spPr>
          <a:xfrm>
            <a:off x="2267000" y="6205618"/>
            <a:ext cx="0" cy="652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60"/>
          <p:cNvSpPr txBox="1"/>
          <p:nvPr/>
        </p:nvSpPr>
        <p:spPr>
          <a:xfrm>
            <a:off x="2537376" y="6300968"/>
            <a:ext cx="61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07 a 11 de Novembro de 2022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Curitiba - PR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0"/>
          <p:cNvSpPr txBox="1"/>
          <p:nvPr>
            <p:ph type="title"/>
          </p:nvPr>
        </p:nvSpPr>
        <p:spPr>
          <a:xfrm>
            <a:off x="334600" y="-13275"/>
            <a:ext cx="466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swald"/>
              <a:buNone/>
              <a:defRPr b="0" i="0" sz="2100" u="none" cap="none" strike="noStrike">
                <a:solidFill>
                  <a:srgbClr val="66666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swald"/>
              <a:buNone/>
              <a:defRPr b="0" i="0" sz="2100" u="none" cap="none" strike="noStrike">
                <a:solidFill>
                  <a:srgbClr val="66666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swald"/>
              <a:buNone/>
              <a:defRPr b="0" i="0" sz="2100" u="none" cap="none" strike="noStrike">
                <a:solidFill>
                  <a:srgbClr val="66666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swald"/>
              <a:buNone/>
              <a:defRPr b="0" i="0" sz="2100" u="none" cap="none" strike="noStrike">
                <a:solidFill>
                  <a:srgbClr val="66666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swald"/>
              <a:buNone/>
              <a:defRPr b="0" i="0" sz="2100" u="none" cap="none" strike="noStrike">
                <a:solidFill>
                  <a:srgbClr val="66666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swald"/>
              <a:buNone/>
              <a:defRPr b="0" i="0" sz="2100" u="none" cap="none" strike="noStrike">
                <a:solidFill>
                  <a:srgbClr val="66666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swald"/>
              <a:buNone/>
              <a:defRPr b="0" i="0" sz="2100" u="none" cap="none" strike="noStrike">
                <a:solidFill>
                  <a:srgbClr val="66666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swald"/>
              <a:buNone/>
              <a:defRPr b="0" i="0" sz="2100" u="none" cap="none" strike="noStrike">
                <a:solidFill>
                  <a:srgbClr val="66666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swald"/>
              <a:buNone/>
              <a:defRPr b="0" i="0" sz="2100" u="none" cap="none" strike="noStrike">
                <a:solidFill>
                  <a:srgbClr val="66666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7" name="Google Shape;57;p60"/>
          <p:cNvSpPr txBox="1"/>
          <p:nvPr>
            <p:ph idx="2" type="title"/>
          </p:nvPr>
        </p:nvSpPr>
        <p:spPr>
          <a:xfrm>
            <a:off x="838200" y="889000"/>
            <a:ext cx="105156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C8A"/>
              </a:buClr>
              <a:buSzPts val="1500"/>
              <a:buFont typeface="Oswald"/>
              <a:buNone/>
              <a:defRPr b="0" i="0" sz="4300" u="none" cap="none" strike="noStrike">
                <a:solidFill>
                  <a:srgbClr val="0E6C8A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swald"/>
              <a:buNone/>
              <a:defRPr b="0" i="0" sz="43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swald"/>
              <a:buNone/>
              <a:defRPr b="0" i="0" sz="43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swald"/>
              <a:buNone/>
              <a:defRPr b="0" i="0" sz="43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swald"/>
              <a:buNone/>
              <a:defRPr b="0" i="0" sz="43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swald"/>
              <a:buNone/>
              <a:defRPr b="0" i="0" sz="43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swald"/>
              <a:buNone/>
              <a:defRPr b="0" i="0" sz="43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swald"/>
              <a:buNone/>
              <a:defRPr b="0" i="0" sz="43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Oswald"/>
              <a:buNone/>
              <a:defRPr b="0" i="0" sz="43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cxnSp>
        <p:nvCxnSpPr>
          <p:cNvPr id="58" name="Google Shape;58;p60"/>
          <p:cNvCxnSpPr/>
          <p:nvPr/>
        </p:nvCxnSpPr>
        <p:spPr>
          <a:xfrm>
            <a:off x="334600" y="-13333"/>
            <a:ext cx="0" cy="590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60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Oi"/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Oi"/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Oi"/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Oi"/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Oi"/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Oi"/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Oi"/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Oi"/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Oi"/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http://ufc.br/images/_images/a_universidade/identidade_visual/brasao/brasao3_horizontal_cor_72dpi.png" id="60" name="Google Shape;60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6173" y="98932"/>
            <a:ext cx="815931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6178" y="50716"/>
            <a:ext cx="1034238" cy="456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MDCC UFC" id="62" name="Google Shape;62;p60"/>
          <p:cNvPicPr preferRelativeResize="0"/>
          <p:nvPr/>
        </p:nvPicPr>
        <p:blipFill rotWithShape="1">
          <a:blip r:embed="rId4">
            <a:alphaModFix/>
          </a:blip>
          <a:srcRect b="28871" l="4838" r="2642" t="5585"/>
          <a:stretch/>
        </p:blipFill>
        <p:spPr>
          <a:xfrm>
            <a:off x="10035058" y="129037"/>
            <a:ext cx="957486" cy="2997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60"/>
          <p:cNvSpPr txBox="1"/>
          <p:nvPr>
            <p:ph idx="1" type="body"/>
          </p:nvPr>
        </p:nvSpPr>
        <p:spPr>
          <a:xfrm>
            <a:off x="839788" y="2060575"/>
            <a:ext cx="10512425" cy="3960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7405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60"/>
          <p:cNvSpPr/>
          <p:nvPr/>
        </p:nvSpPr>
        <p:spPr>
          <a:xfrm>
            <a:off x="0" y="6205618"/>
            <a:ext cx="12192000" cy="65250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0"/>
          <p:cNvSpPr txBox="1"/>
          <p:nvPr>
            <p:ph idx="3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6" name="Google Shape;66;p60"/>
          <p:cNvSpPr txBox="1"/>
          <p:nvPr/>
        </p:nvSpPr>
        <p:spPr>
          <a:xfrm>
            <a:off x="0" y="6358725"/>
            <a:ext cx="249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WTDG 2022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p60"/>
          <p:cNvCxnSpPr/>
          <p:nvPr/>
        </p:nvCxnSpPr>
        <p:spPr>
          <a:xfrm>
            <a:off x="2495600" y="6205618"/>
            <a:ext cx="0" cy="652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60"/>
          <p:cNvSpPr txBox="1"/>
          <p:nvPr/>
        </p:nvSpPr>
        <p:spPr>
          <a:xfrm>
            <a:off x="2783632" y="6316409"/>
            <a:ext cx="6192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Federal do Ceará</a:t>
            </a:r>
            <a:br>
              <a:rPr b="0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Fortaleza, Ceará, </a:t>
            </a: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 de novembro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enceramento">
  <p:cSld name="Slide de enceramento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type="title"/>
          </p:nvPr>
        </p:nvSpPr>
        <p:spPr>
          <a:xfrm>
            <a:off x="6389425" y="2725700"/>
            <a:ext cx="46086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Oswald"/>
              <a:buNone/>
              <a:defRPr b="0" i="0" sz="4800" u="none" cap="none" strike="noStrike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Oswald"/>
              <a:buNone/>
              <a:defRPr b="0" i="0" sz="48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Oswald"/>
              <a:buNone/>
              <a:defRPr b="0" i="0" sz="48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Oswald"/>
              <a:buNone/>
              <a:defRPr b="0" i="0" sz="48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Oswald"/>
              <a:buNone/>
              <a:defRPr b="0" i="0" sz="48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Oswald"/>
              <a:buNone/>
              <a:defRPr b="0" i="0" sz="48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Oswald"/>
              <a:buNone/>
              <a:defRPr b="0" i="0" sz="48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Oswald"/>
              <a:buNone/>
              <a:defRPr b="0" i="0" sz="48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Oswald"/>
              <a:buNone/>
              <a:defRPr b="0" i="0" sz="48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23"/>
          <p:cNvSpPr txBox="1"/>
          <p:nvPr>
            <p:ph idx="1" type="subTitle"/>
          </p:nvPr>
        </p:nvSpPr>
        <p:spPr>
          <a:xfrm>
            <a:off x="6389425" y="3645575"/>
            <a:ext cx="408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23"/>
          <p:cNvSpPr/>
          <p:nvPr/>
        </p:nvSpPr>
        <p:spPr>
          <a:xfrm flipH="1" rot="-5400000">
            <a:off x="5016000" y="3781360"/>
            <a:ext cx="2160000" cy="15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3"/>
          <p:cNvSpPr/>
          <p:nvPr/>
        </p:nvSpPr>
        <p:spPr>
          <a:xfrm>
            <a:off x="0" y="6205618"/>
            <a:ext cx="12192000" cy="65250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3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" name="Google Shape;75;p23"/>
          <p:cNvSpPr txBox="1"/>
          <p:nvPr/>
        </p:nvSpPr>
        <p:spPr>
          <a:xfrm>
            <a:off x="0" y="6358725"/>
            <a:ext cx="249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WTDG 2022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23"/>
          <p:cNvCxnSpPr/>
          <p:nvPr/>
        </p:nvCxnSpPr>
        <p:spPr>
          <a:xfrm>
            <a:off x="2495600" y="6205618"/>
            <a:ext cx="0" cy="652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http://www.ufc.br/images/_images/a_universidade/identidade_visual/brasao/brasao1_horizontal_cor_300dpi.png" id="77" name="Google Shape;7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9224" y="1819046"/>
            <a:ext cx="3036059" cy="817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767" y="4319539"/>
            <a:ext cx="3326993" cy="11913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p23"/>
          <p:cNvGrpSpPr/>
          <p:nvPr/>
        </p:nvGrpSpPr>
        <p:grpSpPr>
          <a:xfrm>
            <a:off x="719247" y="2997044"/>
            <a:ext cx="2525308" cy="966836"/>
            <a:chOff x="3485470" y="3257634"/>
            <a:chExt cx="5126488" cy="1927888"/>
          </a:xfrm>
        </p:grpSpPr>
        <p:pic>
          <p:nvPicPr>
            <p:cNvPr descr="Resultado de imagem para MDCC UFC" id="80" name="Google Shape;80;p23"/>
            <p:cNvPicPr preferRelativeResize="0"/>
            <p:nvPr/>
          </p:nvPicPr>
          <p:blipFill rotWithShape="1">
            <a:blip r:embed="rId4">
              <a:alphaModFix/>
            </a:blip>
            <a:srcRect b="24002" l="8283" r="21639" t="64460"/>
            <a:stretch/>
          </p:blipFill>
          <p:spPr>
            <a:xfrm>
              <a:off x="3485470" y="4763596"/>
              <a:ext cx="5126488" cy="4219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Resultado de imagem para MDCC UFC" id="81" name="Google Shape;81;p23"/>
            <p:cNvPicPr preferRelativeResize="0"/>
            <p:nvPr/>
          </p:nvPicPr>
          <p:blipFill rotWithShape="1">
            <a:blip r:embed="rId5">
              <a:alphaModFix/>
            </a:blip>
            <a:srcRect b="28871" l="4838" r="2634" t="5584"/>
            <a:stretch/>
          </p:blipFill>
          <p:spPr>
            <a:xfrm>
              <a:off x="3600449" y="3257634"/>
              <a:ext cx="4896530" cy="15059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23"/>
          <p:cNvSpPr txBox="1"/>
          <p:nvPr/>
        </p:nvSpPr>
        <p:spPr>
          <a:xfrm>
            <a:off x="2783632" y="6316409"/>
            <a:ext cx="6192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Federal do Ceará</a:t>
            </a:r>
            <a:br>
              <a:rPr b="0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Fortaleza, Ceará, </a:t>
            </a: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 de novembro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branco">
  <p:cSld name="1_Título e branco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>
            <a:off x="838200" y="711200"/>
            <a:ext cx="105156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C8A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E6C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http://ufc.br/images/_images/a_universidade/identidade_visual/brasao/brasao3_horizontal_cor_72dpi.png" id="85" name="Google Shape;8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6173" y="98932"/>
            <a:ext cx="815931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6178" y="50716"/>
            <a:ext cx="1034238" cy="456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MDCC UFC" id="87" name="Google Shape;87;p22"/>
          <p:cNvPicPr preferRelativeResize="0"/>
          <p:nvPr/>
        </p:nvPicPr>
        <p:blipFill rotWithShape="1">
          <a:blip r:embed="rId4">
            <a:alphaModFix/>
          </a:blip>
          <a:srcRect b="28871" l="4838" r="2642" t="5585"/>
          <a:stretch/>
        </p:blipFill>
        <p:spPr>
          <a:xfrm>
            <a:off x="10035058" y="129037"/>
            <a:ext cx="957486" cy="29979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2"/>
          <p:cNvSpPr/>
          <p:nvPr/>
        </p:nvSpPr>
        <p:spPr>
          <a:xfrm>
            <a:off x="0" y="6205618"/>
            <a:ext cx="12192000" cy="65250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0" name="Google Shape;90;p22"/>
          <p:cNvSpPr txBox="1"/>
          <p:nvPr/>
        </p:nvSpPr>
        <p:spPr>
          <a:xfrm>
            <a:off x="0" y="6358725"/>
            <a:ext cx="249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WTDG 2022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22"/>
          <p:cNvCxnSpPr/>
          <p:nvPr/>
        </p:nvCxnSpPr>
        <p:spPr>
          <a:xfrm>
            <a:off x="2495600" y="6205618"/>
            <a:ext cx="0" cy="652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22"/>
          <p:cNvSpPr txBox="1"/>
          <p:nvPr/>
        </p:nvSpPr>
        <p:spPr>
          <a:xfrm>
            <a:off x="2783632" y="6316409"/>
            <a:ext cx="6192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Federal do Ceará</a:t>
            </a:r>
            <a:br>
              <a:rPr b="0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Fortaleza, Ceará, </a:t>
            </a: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 de novembro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ítulo e conteúdo">
  <p:cSld name="2_Título e conteúdo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type="title"/>
          </p:nvPr>
        </p:nvSpPr>
        <p:spPr>
          <a:xfrm>
            <a:off x="334600" y="-13275"/>
            <a:ext cx="466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2" type="title"/>
          </p:nvPr>
        </p:nvSpPr>
        <p:spPr>
          <a:xfrm>
            <a:off x="838200" y="889000"/>
            <a:ext cx="105156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C8A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E6C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96" name="Google Shape;96;p25"/>
          <p:cNvCxnSpPr/>
          <p:nvPr/>
        </p:nvCxnSpPr>
        <p:spPr>
          <a:xfrm>
            <a:off x="334600" y="-13333"/>
            <a:ext cx="0" cy="590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839416" y="2024708"/>
            <a:ext cx="5184204" cy="3960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3" type="body"/>
          </p:nvPr>
        </p:nvSpPr>
        <p:spPr>
          <a:xfrm>
            <a:off x="6167635" y="2024708"/>
            <a:ext cx="5184204" cy="3960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http://ufc.br/images/_images/a_universidade/identidade_visual/brasao/brasao3_horizontal_cor_72dpi.png" id="99" name="Google Shape;9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6173" y="98932"/>
            <a:ext cx="815931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6178" y="50716"/>
            <a:ext cx="1034238" cy="456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MDCC UFC" id="101" name="Google Shape;101;p25"/>
          <p:cNvPicPr preferRelativeResize="0"/>
          <p:nvPr/>
        </p:nvPicPr>
        <p:blipFill rotWithShape="1">
          <a:blip r:embed="rId4">
            <a:alphaModFix/>
          </a:blip>
          <a:srcRect b="28871" l="4838" r="2642" t="5585"/>
          <a:stretch/>
        </p:blipFill>
        <p:spPr>
          <a:xfrm>
            <a:off x="10035058" y="129037"/>
            <a:ext cx="957486" cy="2997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/>
          <p:nvPr/>
        </p:nvSpPr>
        <p:spPr>
          <a:xfrm>
            <a:off x="0" y="6205618"/>
            <a:ext cx="12192000" cy="65250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5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4" name="Google Shape;104;p25"/>
          <p:cNvSpPr txBox="1"/>
          <p:nvPr/>
        </p:nvSpPr>
        <p:spPr>
          <a:xfrm>
            <a:off x="0" y="6358725"/>
            <a:ext cx="249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WTDG 2022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25"/>
          <p:cNvCxnSpPr/>
          <p:nvPr/>
        </p:nvCxnSpPr>
        <p:spPr>
          <a:xfrm>
            <a:off x="2495600" y="6205618"/>
            <a:ext cx="0" cy="652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25"/>
          <p:cNvSpPr txBox="1"/>
          <p:nvPr/>
        </p:nvSpPr>
        <p:spPr>
          <a:xfrm>
            <a:off x="2783632" y="6316409"/>
            <a:ext cx="6192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Federal do Ceará</a:t>
            </a:r>
            <a:br>
              <a:rPr b="0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Fortaleza, Ceará, </a:t>
            </a: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 de novembro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branco">
  <p:cSld name="Título e branco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type="title"/>
          </p:nvPr>
        </p:nvSpPr>
        <p:spPr>
          <a:xfrm>
            <a:off x="838200" y="711200"/>
            <a:ext cx="105156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C8A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E6C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6"/>
          <p:cNvSpPr txBox="1"/>
          <p:nvPr>
            <p:ph idx="2" type="title"/>
          </p:nvPr>
        </p:nvSpPr>
        <p:spPr>
          <a:xfrm>
            <a:off x="334600" y="-13275"/>
            <a:ext cx="466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10" name="Google Shape;110;p26"/>
          <p:cNvCxnSpPr/>
          <p:nvPr/>
        </p:nvCxnSpPr>
        <p:spPr>
          <a:xfrm>
            <a:off x="334600" y="-13333"/>
            <a:ext cx="0" cy="590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http://ufc.br/images/_images/a_universidade/identidade_visual/brasao/brasao3_horizontal_cor_72dpi.png" id="111" name="Google Shape;11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6173" y="98932"/>
            <a:ext cx="815931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6178" y="50716"/>
            <a:ext cx="1034238" cy="456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MDCC UFC" id="113" name="Google Shape;113;p26"/>
          <p:cNvPicPr preferRelativeResize="0"/>
          <p:nvPr/>
        </p:nvPicPr>
        <p:blipFill rotWithShape="1">
          <a:blip r:embed="rId4">
            <a:alphaModFix/>
          </a:blip>
          <a:srcRect b="28871" l="4838" r="2642" t="5585"/>
          <a:stretch/>
        </p:blipFill>
        <p:spPr>
          <a:xfrm>
            <a:off x="10035058" y="129037"/>
            <a:ext cx="957486" cy="29979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/>
          <p:nvPr/>
        </p:nvSpPr>
        <p:spPr>
          <a:xfrm>
            <a:off x="0" y="6205618"/>
            <a:ext cx="12192000" cy="65250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6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6" name="Google Shape;116;p26"/>
          <p:cNvSpPr txBox="1"/>
          <p:nvPr/>
        </p:nvSpPr>
        <p:spPr>
          <a:xfrm>
            <a:off x="0" y="6358725"/>
            <a:ext cx="249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WTDG 2022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26"/>
          <p:cNvCxnSpPr/>
          <p:nvPr/>
        </p:nvCxnSpPr>
        <p:spPr>
          <a:xfrm>
            <a:off x="2495600" y="6205618"/>
            <a:ext cx="0" cy="652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26"/>
          <p:cNvSpPr txBox="1"/>
          <p:nvPr/>
        </p:nvSpPr>
        <p:spPr>
          <a:xfrm>
            <a:off x="2783632" y="6316409"/>
            <a:ext cx="6192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Federal do Ceará</a:t>
            </a:r>
            <a:br>
              <a:rPr b="0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Fortaleza, Ceará, </a:t>
            </a: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 de novembro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ítulo e conteúdo">
  <p:cSld name="5_Título e conteúdo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838200" y="889000"/>
            <a:ext cx="105156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C8A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E6C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8"/>
          <p:cNvSpPr txBox="1"/>
          <p:nvPr>
            <p:ph idx="1" type="body"/>
          </p:nvPr>
        </p:nvSpPr>
        <p:spPr>
          <a:xfrm>
            <a:off x="839416" y="2024708"/>
            <a:ext cx="5184204" cy="3960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8"/>
          <p:cNvSpPr txBox="1"/>
          <p:nvPr>
            <p:ph idx="2" type="body"/>
          </p:nvPr>
        </p:nvSpPr>
        <p:spPr>
          <a:xfrm>
            <a:off x="6167635" y="2024708"/>
            <a:ext cx="5184204" cy="3960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http://ufc.br/images/_images/a_universidade/identidade_visual/brasao/brasao3_horizontal_cor_72dpi.png" id="123" name="Google Shape;123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6173" y="98932"/>
            <a:ext cx="815931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6178" y="50716"/>
            <a:ext cx="1034238" cy="456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MDCC UFC" id="125" name="Google Shape;125;p28"/>
          <p:cNvPicPr preferRelativeResize="0"/>
          <p:nvPr/>
        </p:nvPicPr>
        <p:blipFill rotWithShape="1">
          <a:blip r:embed="rId4">
            <a:alphaModFix/>
          </a:blip>
          <a:srcRect b="28871" l="4838" r="2642" t="5585"/>
          <a:stretch/>
        </p:blipFill>
        <p:spPr>
          <a:xfrm>
            <a:off x="10035058" y="129037"/>
            <a:ext cx="957486" cy="29979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8"/>
          <p:cNvSpPr/>
          <p:nvPr/>
        </p:nvSpPr>
        <p:spPr>
          <a:xfrm>
            <a:off x="0" y="6205618"/>
            <a:ext cx="12192000" cy="65250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8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8" name="Google Shape;128;p28"/>
          <p:cNvSpPr txBox="1"/>
          <p:nvPr/>
        </p:nvSpPr>
        <p:spPr>
          <a:xfrm>
            <a:off x="0" y="6358725"/>
            <a:ext cx="249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WTDG 2022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28"/>
          <p:cNvCxnSpPr/>
          <p:nvPr/>
        </p:nvCxnSpPr>
        <p:spPr>
          <a:xfrm>
            <a:off x="2495600" y="6205618"/>
            <a:ext cx="0" cy="652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28"/>
          <p:cNvSpPr txBox="1"/>
          <p:nvPr/>
        </p:nvSpPr>
        <p:spPr>
          <a:xfrm>
            <a:off x="2783632" y="6316409"/>
            <a:ext cx="6192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Universidade Federal do Ceará</a:t>
            </a:r>
            <a:br>
              <a:rPr b="0" i="0" lang="pt-BR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Fortaleza, Ceará, </a:t>
            </a:r>
            <a:r>
              <a:rPr b="0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 de novembro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">
  <p:cSld name="Citação ">
    <p:bg>
      <p:bgPr>
        <a:solidFill>
          <a:srgbClr val="0E6C8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/>
          <p:nvPr/>
        </p:nvSpPr>
        <p:spPr>
          <a:xfrm>
            <a:off x="0" y="-747464"/>
            <a:ext cx="12192000" cy="7605464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eat_wwhite.png" id="133" name="Google Shape;13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84232" y="116632"/>
            <a:ext cx="1139133" cy="4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dcc-white.png" id="134" name="Google Shape;13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9351" y="111101"/>
            <a:ext cx="1263153" cy="44051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9"/>
          <p:cNvSpPr txBox="1"/>
          <p:nvPr>
            <p:ph idx="1" type="subTitle"/>
          </p:nvPr>
        </p:nvSpPr>
        <p:spPr>
          <a:xfrm>
            <a:off x="917800" y="1954567"/>
            <a:ext cx="10673600" cy="39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UFC_monocromatico_branca.png" id="136" name="Google Shape;13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1000" y="111101"/>
            <a:ext cx="994733" cy="471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9"/>
          <p:cNvSpPr txBox="1"/>
          <p:nvPr>
            <p:ph idx="12" type="sldNum"/>
          </p:nvPr>
        </p:nvSpPr>
        <p:spPr>
          <a:xfrm>
            <a:off x="11568608" y="6129360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/>
          <p:nvPr/>
        </p:nvSpPr>
        <p:spPr>
          <a:xfrm>
            <a:off x="676500" y="914175"/>
            <a:ext cx="10839000" cy="179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Teste de interoperabilidade para aplicações IoT</a:t>
            </a:r>
            <a:endParaRPr b="1" i="0" sz="4000" u="none" cap="none" strike="noStrike">
              <a:solidFill>
                <a:srgbClr val="43434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62200" y="2921850"/>
            <a:ext cx="10476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rgbClr val="424243"/>
                </a:solidFill>
                <a:latin typeface="Open Sans"/>
                <a:ea typeface="Open Sans"/>
                <a:cs typeface="Open Sans"/>
                <a:sym typeface="Open Sans"/>
              </a:rPr>
              <a:t>Karina da Silva Castelo Branco</a:t>
            </a:r>
            <a:endParaRPr b="0" i="0" sz="2200" u="none" cap="none" strike="noStrike">
              <a:solidFill>
                <a:srgbClr val="4242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4242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424243"/>
                </a:solidFill>
                <a:latin typeface="Open Sans"/>
                <a:ea typeface="Open Sans"/>
                <a:cs typeface="Open Sans"/>
                <a:sym typeface="Open Sans"/>
              </a:rPr>
              <a:t>Orientador:</a:t>
            </a:r>
            <a:r>
              <a:rPr b="0" i="0" lang="pt-BR" sz="2200" u="none" cap="none" strike="noStrike">
                <a:solidFill>
                  <a:srgbClr val="424243"/>
                </a:solidFill>
                <a:latin typeface="Open Sans"/>
                <a:ea typeface="Open Sans"/>
                <a:cs typeface="Open Sans"/>
                <a:sym typeface="Open Sans"/>
              </a:rPr>
              <a:t> Valéria Lelli Leitão Dantas</a:t>
            </a:r>
            <a:endParaRPr b="0" i="0" sz="2200" u="none" cap="none" strike="noStrike">
              <a:solidFill>
                <a:srgbClr val="42424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2647400" y="4549625"/>
            <a:ext cx="6705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karinascb@alu.ufc.br</a:t>
            </a:r>
            <a:r>
              <a:rPr b="0" i="0" lang="pt-BR" sz="1700" u="none" cap="none" strike="noStrike">
                <a:solidFill>
                  <a:srgbClr val="424243"/>
                </a:solidFill>
                <a:latin typeface="Open Sans"/>
                <a:ea typeface="Open Sans"/>
                <a:cs typeface="Open Sans"/>
                <a:sym typeface="Open Sans"/>
              </a:rPr>
              <a:t>, valerialelli@ufc.br</a:t>
            </a:r>
            <a:endParaRPr b="0" i="0" sz="1700" u="none" cap="none" strike="noStrike">
              <a:solidFill>
                <a:srgbClr val="4242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9e814c3309_0_20"/>
          <p:cNvSpPr txBox="1"/>
          <p:nvPr>
            <p:ph type="title"/>
          </p:nvPr>
        </p:nvSpPr>
        <p:spPr>
          <a:xfrm>
            <a:off x="334600" y="-13275"/>
            <a:ext cx="466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</a:pPr>
            <a:r>
              <a:rPr lang="pt-BR" sz="2000"/>
              <a:t>Introdução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19e814c3309_0_20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1" name="Google Shape;151;g19e814c3309_0_20"/>
          <p:cNvSpPr txBox="1"/>
          <p:nvPr>
            <p:ph idx="2" type="title"/>
          </p:nvPr>
        </p:nvSpPr>
        <p:spPr>
          <a:xfrm>
            <a:off x="838200" y="889000"/>
            <a:ext cx="105156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pt-BR" sz="4000">
                <a:latin typeface="Oswald"/>
                <a:ea typeface="Oswald"/>
                <a:cs typeface="Oswald"/>
                <a:sym typeface="Oswald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Contexto</a:t>
            </a:r>
            <a:endParaRPr b="1" sz="40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2" name="Google Shape;152;g19e814c3309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0250" y="1894053"/>
            <a:ext cx="4668000" cy="291749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19e814c3309_0_20"/>
          <p:cNvSpPr txBox="1"/>
          <p:nvPr/>
        </p:nvSpPr>
        <p:spPr>
          <a:xfrm>
            <a:off x="431875" y="2159000"/>
            <a:ext cx="64560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Times New Roman"/>
              <a:buChar char="●"/>
            </a:pPr>
            <a:r>
              <a:rPr b="0" i="0" lang="pt-B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0" i="0" lang="pt-B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Internet</a:t>
            </a:r>
            <a:r>
              <a:rPr b="0" i="0" lang="pt-B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das coisas - IoT” é um conjunto de objetos inteligentes (</a:t>
            </a:r>
            <a:r>
              <a:rPr b="0" i="1" lang="pt-B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e.g.,</a:t>
            </a:r>
            <a:r>
              <a:rPr b="0" i="0" lang="pt-B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dispositivos, sensores, atuadores)</a:t>
            </a:r>
            <a:r>
              <a:rPr b="0" i="0" lang="pt-B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interconectados que colaboram com o intuito de coletar e compartilhar dados para prover serviços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9e814c3309_0_10"/>
          <p:cNvSpPr txBox="1"/>
          <p:nvPr>
            <p:ph type="title"/>
          </p:nvPr>
        </p:nvSpPr>
        <p:spPr>
          <a:xfrm>
            <a:off x="334600" y="-13275"/>
            <a:ext cx="466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</a:pPr>
            <a:r>
              <a:rPr lang="pt-BR" sz="2000"/>
              <a:t>Introdução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19e814c3309_0_10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0" name="Google Shape;160;g19e814c3309_0_10"/>
          <p:cNvSpPr txBox="1"/>
          <p:nvPr>
            <p:ph idx="2" type="title"/>
          </p:nvPr>
        </p:nvSpPr>
        <p:spPr>
          <a:xfrm>
            <a:off x="838200" y="889000"/>
            <a:ext cx="105156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pt-BR" sz="4000">
                <a:latin typeface="Oswald"/>
                <a:ea typeface="Oswald"/>
                <a:cs typeface="Oswald"/>
                <a:sym typeface="Oswald"/>
              </a:rPr>
              <a:t>Interoperabilidade</a:t>
            </a:r>
            <a:endParaRPr b="1" sz="40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1" name="Google Shape;161;g19e814c3309_0_10"/>
          <p:cNvSpPr txBox="1"/>
          <p:nvPr/>
        </p:nvSpPr>
        <p:spPr>
          <a:xfrm>
            <a:off x="792375" y="2325400"/>
            <a:ext cx="59418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Arial"/>
              <a:buChar char="•"/>
            </a:pPr>
            <a:r>
              <a:rPr b="0" i="0" lang="pt-B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interoperabilidade</a:t>
            </a:r>
            <a:r>
              <a:rPr b="1" i="1" lang="pt-B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 </a:t>
            </a:r>
            <a:r>
              <a:rPr b="1" i="0" lang="pt-B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à capacidade de dois ou mais sistemas se comunicarem de forma eficaz entre si</a:t>
            </a:r>
            <a:r>
              <a:rPr b="0" i="0" lang="pt-B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garantindo a </a:t>
            </a:r>
            <a:r>
              <a:rPr b="1" i="0" lang="pt-B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integridade dos dados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¹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19e814c3309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8850" y="1753992"/>
            <a:ext cx="4825200" cy="277450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19e814c3309_0_10"/>
          <p:cNvSpPr txBox="1"/>
          <p:nvPr/>
        </p:nvSpPr>
        <p:spPr>
          <a:xfrm>
            <a:off x="334600" y="5705075"/>
            <a:ext cx="1177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¹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SOARES, D. d. S. Interoperabilidade entre sistemas de informação na Administração Pública, 2010.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a0fe2b556f_0_0"/>
          <p:cNvSpPr txBox="1"/>
          <p:nvPr>
            <p:ph type="title"/>
          </p:nvPr>
        </p:nvSpPr>
        <p:spPr>
          <a:xfrm>
            <a:off x="334600" y="-13275"/>
            <a:ext cx="466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/>
              <a:t>Fundamentação Teórica</a:t>
            </a:r>
            <a:endParaRPr/>
          </a:p>
        </p:txBody>
      </p:sp>
      <p:sp>
        <p:nvSpPr>
          <p:cNvPr id="170" name="Google Shape;170;g2a0fe2b556f_0_0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1" name="Google Shape;171;g2a0fe2b556f_0_0"/>
          <p:cNvSpPr txBox="1"/>
          <p:nvPr>
            <p:ph idx="1" type="body"/>
          </p:nvPr>
        </p:nvSpPr>
        <p:spPr>
          <a:xfrm>
            <a:off x="565925" y="2206925"/>
            <a:ext cx="11124600" cy="3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BR" sz="2300"/>
              <a:t>O teste de interoperabilidade é o processo de assegurar que dispositivos IoT possam se </a:t>
            </a:r>
            <a:r>
              <a:rPr b="1" lang="pt-BR" sz="2300"/>
              <a:t>comunicar eficazmente em diferentes ambientes, independentemente de fabricantes ou protocolo.</a:t>
            </a:r>
            <a:endParaRPr b="1" sz="2300">
              <a:solidFill>
                <a:srgbClr val="545454"/>
              </a:solidFill>
            </a:endParaRPr>
          </a:p>
        </p:txBody>
      </p:sp>
      <p:sp>
        <p:nvSpPr>
          <p:cNvPr id="172" name="Google Shape;172;g2a0fe2b556f_0_0"/>
          <p:cNvSpPr txBox="1"/>
          <p:nvPr>
            <p:ph idx="2" type="title"/>
          </p:nvPr>
        </p:nvSpPr>
        <p:spPr>
          <a:xfrm>
            <a:off x="838200" y="889000"/>
            <a:ext cx="105156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pt-BR" sz="3000">
                <a:latin typeface="Oswald"/>
                <a:ea typeface="Oswald"/>
                <a:cs typeface="Oswald"/>
                <a:sym typeface="Oswald"/>
              </a:rPr>
              <a:t>Teste de i</a:t>
            </a:r>
            <a:r>
              <a:rPr b="1" lang="pt-BR" sz="3000">
                <a:latin typeface="Oswald"/>
                <a:ea typeface="Oswald"/>
                <a:cs typeface="Oswald"/>
                <a:sym typeface="Oswald"/>
              </a:rPr>
              <a:t>nteroperabilidade em aplicações IoT</a:t>
            </a:r>
            <a:endParaRPr b="1" sz="30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3" name="Google Shape;173;g2a0fe2b556f_0_0"/>
          <p:cNvSpPr txBox="1"/>
          <p:nvPr/>
        </p:nvSpPr>
        <p:spPr>
          <a:xfrm>
            <a:off x="784650" y="5571000"/>
            <a:ext cx="1132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2a0fe2b556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5800" y="3581400"/>
            <a:ext cx="4563612" cy="257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eb5708ce56_0_1"/>
          <p:cNvSpPr txBox="1"/>
          <p:nvPr>
            <p:ph type="title"/>
          </p:nvPr>
        </p:nvSpPr>
        <p:spPr>
          <a:xfrm>
            <a:off x="334600" y="-13275"/>
            <a:ext cx="466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Arial"/>
              <a:buNone/>
            </a:pPr>
            <a:r>
              <a:rPr lang="pt-BR" sz="2000"/>
              <a:t>Introdução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1eb5708ce56_0_1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1" name="Google Shape;181;g1eb5708ce56_0_1"/>
          <p:cNvSpPr txBox="1"/>
          <p:nvPr>
            <p:ph idx="1" type="body"/>
          </p:nvPr>
        </p:nvSpPr>
        <p:spPr>
          <a:xfrm>
            <a:off x="1008675" y="2060575"/>
            <a:ext cx="7420500" cy="3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2200">
                <a:solidFill>
                  <a:schemeClr val="dk1"/>
                </a:solidFill>
              </a:rPr>
              <a:t>Dentre os desafios do teste de interoperabilidade, pode-se citar:</a:t>
            </a:r>
            <a:br>
              <a:rPr lang="pt-BR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pt-BR" sz="2200">
                <a:solidFill>
                  <a:schemeClr val="dk1"/>
                </a:solidFill>
              </a:rPr>
              <a:t>Complexidade da arquitetura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pt-BR" sz="2200">
                <a:solidFill>
                  <a:schemeClr val="dk1"/>
                </a:solidFill>
              </a:rPr>
              <a:t>Comunicação entre dispositivos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pt-BR" sz="2200">
                <a:solidFill>
                  <a:schemeClr val="dk1"/>
                </a:solidFill>
              </a:rPr>
              <a:t>Heterogeneidade de dispositivos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pt-BR" sz="2200">
                <a:solidFill>
                  <a:schemeClr val="dk1"/>
                </a:solidFill>
              </a:rPr>
              <a:t>Garantia de conectividade eficaz entre eles</a:t>
            </a:r>
            <a:endParaRPr sz="2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" name="Google Shape;182;g1eb5708ce56_0_1"/>
          <p:cNvSpPr txBox="1"/>
          <p:nvPr>
            <p:ph idx="2" type="title"/>
          </p:nvPr>
        </p:nvSpPr>
        <p:spPr>
          <a:xfrm>
            <a:off x="838200" y="889000"/>
            <a:ext cx="105156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pt-BR">
                <a:latin typeface="Oswald"/>
                <a:ea typeface="Oswald"/>
                <a:cs typeface="Oswald"/>
                <a:sym typeface="Oswald"/>
              </a:rPr>
              <a:t>Desafios de teste para Interoperabilidade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3" name="Google Shape;183;g1eb5708ce56_0_1"/>
          <p:cNvPicPr preferRelativeResize="0"/>
          <p:nvPr/>
        </p:nvPicPr>
        <p:blipFill rotWithShape="1">
          <a:blip r:embed="rId3">
            <a:alphaModFix/>
          </a:blip>
          <a:srcRect b="0" l="19930" r="15755" t="0"/>
          <a:stretch/>
        </p:blipFill>
        <p:spPr>
          <a:xfrm>
            <a:off x="8429175" y="2134000"/>
            <a:ext cx="3462499" cy="259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9e814c3309_0_116"/>
          <p:cNvSpPr txBox="1"/>
          <p:nvPr>
            <p:ph type="title"/>
          </p:nvPr>
        </p:nvSpPr>
        <p:spPr>
          <a:xfrm>
            <a:off x="334600" y="-13275"/>
            <a:ext cx="466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/>
              <a:t>Fundamentação Teórica</a:t>
            </a:r>
            <a:endParaRPr/>
          </a:p>
        </p:txBody>
      </p:sp>
      <p:sp>
        <p:nvSpPr>
          <p:cNvPr id="190" name="Google Shape;190;g19e814c3309_0_116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1" name="Google Shape;191;g19e814c3309_0_116"/>
          <p:cNvSpPr txBox="1"/>
          <p:nvPr>
            <p:ph idx="1" type="body"/>
          </p:nvPr>
        </p:nvSpPr>
        <p:spPr>
          <a:xfrm>
            <a:off x="710500" y="2180075"/>
            <a:ext cx="6892200" cy="3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BR" sz="2400"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No</a:t>
            </a:r>
            <a:r>
              <a:rPr lang="pt-BR" sz="2400"/>
              <a:t> contexto de validação para IoT, apesar de serem inúmeras plataformas habilitadas, </a:t>
            </a:r>
            <a:r>
              <a:rPr lang="pt-BR" sz="2400">
                <a:solidFill>
                  <a:srgbClr val="222222"/>
                </a:solidFill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há carência de diretrizes</a:t>
            </a:r>
            <a:r>
              <a:rPr b="1" lang="pt-BR" sz="2400"/>
              <a:t> sobre como usar esses padrões de desenvolvimento e como validá-los</a:t>
            </a:r>
            <a:r>
              <a:rPr baseline="30000" lang="pt-BR" sz="2400">
                <a:solidFill>
                  <a:schemeClr val="dk1"/>
                </a:solidFill>
              </a:rPr>
              <a:t>4</a:t>
            </a:r>
            <a:endParaRPr sz="2400"/>
          </a:p>
        </p:txBody>
      </p:sp>
      <p:sp>
        <p:nvSpPr>
          <p:cNvPr id="192" name="Google Shape;192;g19e814c3309_0_116"/>
          <p:cNvSpPr txBox="1"/>
          <p:nvPr>
            <p:ph idx="2" type="title"/>
          </p:nvPr>
        </p:nvSpPr>
        <p:spPr>
          <a:xfrm>
            <a:off x="521225" y="889000"/>
            <a:ext cx="108327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pt-BR" sz="3000">
                <a:latin typeface="Oswald"/>
                <a:ea typeface="Oswald"/>
                <a:cs typeface="Oswald"/>
                <a:sym typeface="Oswald"/>
              </a:rPr>
              <a:t>Teste de software em aplicações IoT</a:t>
            </a:r>
            <a:endParaRPr b="1" sz="30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93" name="Google Shape;193;g19e814c3309_0_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4474" y="2180064"/>
            <a:ext cx="3984051" cy="277121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19e814c3309_0_116"/>
          <p:cNvSpPr txBox="1"/>
          <p:nvPr/>
        </p:nvSpPr>
        <p:spPr>
          <a:xfrm>
            <a:off x="611200" y="5562600"/>
            <a:ext cx="92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baseline="3000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pt-BR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Carvalho, L. M., Lelli, V., and Andrade, R. M. (2022). Performance testing guide for IoT applications. In ICEIS, pages 667–678.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a0fe2b556f_0_43"/>
          <p:cNvSpPr txBox="1"/>
          <p:nvPr>
            <p:ph type="title"/>
          </p:nvPr>
        </p:nvSpPr>
        <p:spPr>
          <a:xfrm>
            <a:off x="334600" y="-13275"/>
            <a:ext cx="466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100"/>
              <a:buFont typeface="Oswald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Discussão</a:t>
            </a:r>
            <a:endParaRPr/>
          </a:p>
        </p:txBody>
      </p:sp>
      <p:sp>
        <p:nvSpPr>
          <p:cNvPr id="200" name="Google Shape;200;g2a0fe2b556f_0_43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Oi"/>
              <a:buNone/>
            </a:pPr>
            <a:fld id="{00000000-1234-1234-1234-123412341234}" type="slidenum">
              <a:rPr b="1" lang="pt-BR" sz="1600"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1" name="Google Shape;201;g2a0fe2b556f_0_43"/>
          <p:cNvSpPr txBox="1"/>
          <p:nvPr>
            <p:ph idx="3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2" name="Google Shape;202;g2a0fe2b556f_0_43"/>
          <p:cNvSpPr txBox="1"/>
          <p:nvPr/>
        </p:nvSpPr>
        <p:spPr>
          <a:xfrm>
            <a:off x="334600" y="1313450"/>
            <a:ext cx="11668800" cy="51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Arial"/>
              <a:buChar char="●"/>
            </a:pPr>
            <a:r>
              <a:rPr b="1" lang="pt-BR" sz="2500">
                <a:solidFill>
                  <a:schemeClr val="dk1"/>
                </a:solidFill>
              </a:rPr>
              <a:t>Compatibilidade:</a:t>
            </a:r>
            <a:r>
              <a:rPr lang="pt-BR" sz="2500">
                <a:solidFill>
                  <a:schemeClr val="dk1"/>
                </a:solidFill>
              </a:rPr>
              <a:t> Verificar se os dispositivos IoT são compatíveis entre si, permitindo a troca eficiente de dados e comandos.</a:t>
            </a:r>
            <a:br>
              <a:rPr lang="pt-BR" sz="2500">
                <a:solidFill>
                  <a:schemeClr val="dk1"/>
                </a:solidFill>
              </a:rPr>
            </a:b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Arial"/>
              <a:buChar char="●"/>
            </a:pPr>
            <a:r>
              <a:rPr b="1" lang="pt-BR" sz="2500">
                <a:solidFill>
                  <a:schemeClr val="dk1"/>
                </a:solidFill>
              </a:rPr>
              <a:t>Padrões de Comunicação:</a:t>
            </a:r>
            <a:r>
              <a:rPr lang="pt-BR" sz="2500">
                <a:solidFill>
                  <a:schemeClr val="dk1"/>
                </a:solidFill>
              </a:rPr>
              <a:t> Avaliar se os dispositivos seguem os padrões de comunicação estabelecidos, garantindo uma integração eficaz.</a:t>
            </a:r>
            <a:endParaRPr sz="25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Arial"/>
              <a:buChar char="●"/>
            </a:pPr>
            <a:r>
              <a:rPr b="1" lang="pt-BR" sz="2500">
                <a:solidFill>
                  <a:schemeClr val="dk1"/>
                </a:solidFill>
              </a:rPr>
              <a:t>Escalabilidade: </a:t>
            </a:r>
            <a:r>
              <a:rPr lang="pt-BR" sz="2500">
                <a:solidFill>
                  <a:schemeClr val="dk1"/>
                </a:solidFill>
              </a:rPr>
              <a:t>Testar a capacidade do sistema IoT de lidar com a adição de novos dispositivos sem comprometer o desempenho geral.</a:t>
            </a:r>
            <a:br>
              <a:rPr lang="pt-BR" sz="2500">
                <a:solidFill>
                  <a:schemeClr val="dk1"/>
                </a:solidFill>
              </a:rPr>
            </a:b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Arial"/>
              <a:buChar char="●"/>
            </a:pPr>
            <a:r>
              <a:rPr b="1" lang="pt-BR" sz="2500">
                <a:solidFill>
                  <a:schemeClr val="dk1"/>
                </a:solidFill>
              </a:rPr>
              <a:t>Experiência do Usuário: </a:t>
            </a:r>
            <a:r>
              <a:rPr lang="pt-BR" sz="2500">
                <a:solidFill>
                  <a:schemeClr val="dk1"/>
                </a:solidFill>
              </a:rPr>
              <a:t>Garantir que a interação entre dispositivos seja intuitiva e proporcione uma experiência do usuário positiva.</a:t>
            </a:r>
            <a:endParaRPr sz="25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2a0fe2b556f_0_43"/>
          <p:cNvSpPr txBox="1"/>
          <p:nvPr>
            <p:ph idx="2" type="title"/>
          </p:nvPr>
        </p:nvSpPr>
        <p:spPr>
          <a:xfrm>
            <a:off x="533400" y="722750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 sz="3000"/>
              <a:t>Objetivos do Teste de Interoperabilidade em IoT:</a:t>
            </a:r>
            <a:endParaRPr b="1" sz="3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a0fe2b556f_0_9"/>
          <p:cNvSpPr txBox="1"/>
          <p:nvPr>
            <p:ph type="title"/>
          </p:nvPr>
        </p:nvSpPr>
        <p:spPr>
          <a:xfrm>
            <a:off x="334600" y="-13275"/>
            <a:ext cx="466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/>
              <a:t>Fundamentação Teórica</a:t>
            </a:r>
            <a:endParaRPr/>
          </a:p>
        </p:txBody>
      </p:sp>
      <p:sp>
        <p:nvSpPr>
          <p:cNvPr id="210" name="Google Shape;210;g2a0fe2b556f_0_9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1" name="Google Shape;211;g2a0fe2b556f_0_9"/>
          <p:cNvSpPr txBox="1"/>
          <p:nvPr>
            <p:ph idx="1" type="body"/>
          </p:nvPr>
        </p:nvSpPr>
        <p:spPr>
          <a:xfrm>
            <a:off x="549400" y="1556275"/>
            <a:ext cx="11019300" cy="4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pt-BR" sz="2200"/>
              <a:t>Diversidade de Dispositivos: </a:t>
            </a:r>
            <a:r>
              <a:rPr lang="pt-BR" sz="2200"/>
              <a:t>Com uma infinidade de dispositivos IoT no mercado, a interoperabilidade é crucial para evitar barreiras na troca de informação</a:t>
            </a:r>
            <a:br>
              <a:rPr lang="pt-BR" sz="2200"/>
            </a:br>
            <a:endParaRPr sz="2200"/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pt-BR" sz="2200"/>
              <a:t>Experiência do Usuário: </a:t>
            </a:r>
            <a:r>
              <a:rPr lang="pt-BR" sz="2200"/>
              <a:t>Garantir que a interação entre dispositivos seja suave, proporcionando uma experiência do usuário consistente.</a:t>
            </a:r>
            <a:endParaRPr sz="2200"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pt-BR" sz="2200"/>
              <a:t>Redução de Riscos:</a:t>
            </a:r>
            <a:r>
              <a:rPr lang="pt-BR" sz="2200"/>
              <a:t> Evitar falhas de comunicação que podem comprometer a funcionalidade dos dispositivos.</a:t>
            </a:r>
            <a:endParaRPr sz="2200"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212" name="Google Shape;212;g2a0fe2b556f_0_9"/>
          <p:cNvSpPr txBox="1"/>
          <p:nvPr>
            <p:ph idx="2" type="title"/>
          </p:nvPr>
        </p:nvSpPr>
        <p:spPr>
          <a:xfrm>
            <a:off x="838200" y="889000"/>
            <a:ext cx="10515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pt-BR" sz="3200">
                <a:latin typeface="Oswald"/>
                <a:ea typeface="Oswald"/>
                <a:cs typeface="Oswald"/>
                <a:sym typeface="Oswald"/>
              </a:rPr>
              <a:t>Por que é Importante?</a:t>
            </a:r>
            <a:endParaRPr b="1" sz="32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a0fe2b556f_0_27"/>
          <p:cNvSpPr txBox="1"/>
          <p:nvPr>
            <p:ph type="title"/>
          </p:nvPr>
        </p:nvSpPr>
        <p:spPr>
          <a:xfrm>
            <a:off x="334600" y="-13275"/>
            <a:ext cx="466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/>
              <a:t>Fundamentação Teórica</a:t>
            </a:r>
            <a:endParaRPr/>
          </a:p>
        </p:txBody>
      </p:sp>
      <p:sp>
        <p:nvSpPr>
          <p:cNvPr id="219" name="Google Shape;219;g2a0fe2b556f_0_27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0" name="Google Shape;220;g2a0fe2b556f_0_27"/>
          <p:cNvSpPr txBox="1"/>
          <p:nvPr>
            <p:ph idx="1" type="body"/>
          </p:nvPr>
        </p:nvSpPr>
        <p:spPr>
          <a:xfrm>
            <a:off x="923500" y="1556275"/>
            <a:ext cx="10878900" cy="4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Por que todo esse esforço vale a pena?</a:t>
            </a:r>
            <a:endParaRPr b="1" sz="2200"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pt-BR" sz="2200"/>
              <a:t>Confiança na Integração: </a:t>
            </a:r>
            <a:r>
              <a:rPr lang="pt-BR" sz="2200"/>
              <a:t>Maior confiança na integração de dispositivos IoT.</a:t>
            </a:r>
            <a:endParaRPr sz="2200"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pt-BR" sz="2200"/>
              <a:t>Redução de Custos:</a:t>
            </a:r>
            <a:r>
              <a:rPr lang="pt-BR" sz="2200"/>
              <a:t> Menos retrabalho significa menos custos.</a:t>
            </a:r>
            <a:endParaRPr sz="2200"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pt-BR" sz="2200"/>
              <a:t>Experiência Aprimorada: </a:t>
            </a:r>
            <a:r>
              <a:rPr lang="pt-BR" sz="2200"/>
              <a:t>Melhoria significativa na experiência do usuário.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221" name="Google Shape;221;g2a0fe2b556f_0_27"/>
          <p:cNvSpPr txBox="1"/>
          <p:nvPr>
            <p:ph idx="2" type="title"/>
          </p:nvPr>
        </p:nvSpPr>
        <p:spPr>
          <a:xfrm>
            <a:off x="838200" y="889000"/>
            <a:ext cx="10515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pt-BR" sz="3200">
                <a:latin typeface="Oswald"/>
                <a:ea typeface="Oswald"/>
                <a:cs typeface="Oswald"/>
                <a:sym typeface="Oswald"/>
              </a:rPr>
              <a:t>Vantagens do Teste de Interoperabilidade</a:t>
            </a:r>
            <a:endParaRPr b="1" sz="32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a0fe2b556f_0_35"/>
          <p:cNvSpPr txBox="1"/>
          <p:nvPr>
            <p:ph type="title"/>
          </p:nvPr>
        </p:nvSpPr>
        <p:spPr>
          <a:xfrm>
            <a:off x="334600" y="-13275"/>
            <a:ext cx="466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/>
              <a:t>Fundamentação Teórica</a:t>
            </a:r>
            <a:endParaRPr/>
          </a:p>
        </p:txBody>
      </p:sp>
      <p:sp>
        <p:nvSpPr>
          <p:cNvPr id="228" name="Google Shape;228;g2a0fe2b556f_0_35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9" name="Google Shape;229;g2a0fe2b556f_0_35"/>
          <p:cNvSpPr txBox="1"/>
          <p:nvPr>
            <p:ph idx="1" type="body"/>
          </p:nvPr>
        </p:nvSpPr>
        <p:spPr>
          <a:xfrm>
            <a:off x="923500" y="1556275"/>
            <a:ext cx="10878900" cy="4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Complexidade: </a:t>
            </a:r>
            <a:r>
              <a:rPr lang="pt-BR" sz="2200"/>
              <a:t>Implementar a interoperabilidade pode ser desafiador devido à diversidade de dispositivos.</a:t>
            </a:r>
            <a:br>
              <a:rPr lang="pt-BR" sz="2200"/>
            </a:br>
            <a:endParaRPr sz="2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Padrões em Evolução: </a:t>
            </a:r>
            <a:r>
              <a:rPr lang="pt-BR" sz="2200"/>
              <a:t>Padrões podem mudar, levando a problemas de compatibilidade.</a:t>
            </a:r>
            <a:endParaRPr sz="2200"/>
          </a:p>
        </p:txBody>
      </p:sp>
      <p:sp>
        <p:nvSpPr>
          <p:cNvPr id="230" name="Google Shape;230;g2a0fe2b556f_0_35"/>
          <p:cNvSpPr txBox="1"/>
          <p:nvPr>
            <p:ph idx="2" type="title"/>
          </p:nvPr>
        </p:nvSpPr>
        <p:spPr>
          <a:xfrm>
            <a:off x="838200" y="889000"/>
            <a:ext cx="10515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pt-BR" sz="3200">
                <a:latin typeface="Oswald"/>
                <a:ea typeface="Oswald"/>
                <a:cs typeface="Oswald"/>
                <a:sym typeface="Oswald"/>
              </a:rPr>
              <a:t>Desva</a:t>
            </a:r>
            <a:r>
              <a:rPr b="1" lang="pt-BR" sz="3200">
                <a:latin typeface="Oswald"/>
                <a:ea typeface="Oswald"/>
                <a:cs typeface="Oswald"/>
                <a:sym typeface="Oswald"/>
              </a:rPr>
              <a:t>ntagens do Teste de Interoperabilidade</a:t>
            </a:r>
            <a:endParaRPr b="1" sz="32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a0fe2b556f_0_19"/>
          <p:cNvSpPr txBox="1"/>
          <p:nvPr>
            <p:ph type="title"/>
          </p:nvPr>
        </p:nvSpPr>
        <p:spPr>
          <a:xfrm>
            <a:off x="334600" y="-13275"/>
            <a:ext cx="466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/>
              <a:t>Fundamentação Teórica</a:t>
            </a:r>
            <a:endParaRPr/>
          </a:p>
        </p:txBody>
      </p:sp>
      <p:sp>
        <p:nvSpPr>
          <p:cNvPr id="237" name="Google Shape;237;g2a0fe2b556f_0_19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8" name="Google Shape;238;g2a0fe2b556f_0_19"/>
          <p:cNvSpPr txBox="1"/>
          <p:nvPr>
            <p:ph idx="1" type="body"/>
          </p:nvPr>
        </p:nvSpPr>
        <p:spPr>
          <a:xfrm>
            <a:off x="923500" y="1556275"/>
            <a:ext cx="10878900" cy="4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pt-BR" sz="2200"/>
              <a:t>Entendimento dos Dispositivos: C</a:t>
            </a:r>
            <a:r>
              <a:rPr lang="pt-BR" sz="2200"/>
              <a:t>ompreender os diferentes dispositivos envolvidos e suas capacidades.</a:t>
            </a:r>
            <a:endParaRPr sz="2200"/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pt-BR" sz="2200"/>
              <a:t>Definição de Protocolos: </a:t>
            </a:r>
            <a:r>
              <a:rPr lang="pt-BR" sz="2200"/>
              <a:t>Estabelecer os protocolos de comunicação a serem seguidos.</a:t>
            </a:r>
            <a:endParaRPr sz="2200"/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pt-BR" sz="2200"/>
              <a:t>Configuração do Ambiente de Teste: </a:t>
            </a:r>
            <a:r>
              <a:rPr lang="pt-BR" sz="2200"/>
              <a:t>Criar um ambiente simulado que representam cenários reais.</a:t>
            </a:r>
            <a:endParaRPr sz="2200"/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pt-BR" sz="2200"/>
              <a:t>Execução dos Testes: </a:t>
            </a:r>
            <a:r>
              <a:rPr lang="pt-BR" sz="2200"/>
              <a:t>Avaliar a interação entre os dispositivos.</a:t>
            </a:r>
            <a:endParaRPr sz="2200"/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pt-BR" sz="2200"/>
              <a:t>Documentação:</a:t>
            </a:r>
            <a:r>
              <a:rPr lang="pt-BR" sz="2200"/>
              <a:t> Registrar resultados, identificar problemas e soluções.</a:t>
            </a:r>
            <a:endParaRPr b="1" sz="2200"/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pt-BR" sz="2200"/>
              <a:t>Ferramentas de Teste </a:t>
            </a:r>
            <a:r>
              <a:rPr i="1" lang="pt-BR" sz="2200"/>
              <a:t>(opcional)</a:t>
            </a:r>
            <a:r>
              <a:rPr b="1" lang="pt-BR" sz="2200"/>
              <a:t>: </a:t>
            </a:r>
            <a:r>
              <a:rPr lang="pt-BR" sz="2200"/>
              <a:t>Escolha a ferramentas de teste específicas para garantir a eficácia do processo.</a:t>
            </a:r>
            <a:endParaRPr sz="2200"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239" name="Google Shape;239;g2a0fe2b556f_0_19"/>
          <p:cNvSpPr txBox="1"/>
          <p:nvPr>
            <p:ph idx="2" type="title"/>
          </p:nvPr>
        </p:nvSpPr>
        <p:spPr>
          <a:xfrm>
            <a:off x="838200" y="889000"/>
            <a:ext cx="105156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pt-BR" sz="3200">
                <a:latin typeface="Oswald"/>
                <a:ea typeface="Oswald"/>
                <a:cs typeface="Oswald"/>
                <a:sym typeface="Oswald"/>
              </a:rPr>
              <a:t>Como Fazer - Passo a Passo</a:t>
            </a:r>
            <a:endParaRPr b="1" sz="32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a0fe2b556f_0_53"/>
          <p:cNvSpPr txBox="1"/>
          <p:nvPr>
            <p:ph type="title"/>
          </p:nvPr>
        </p:nvSpPr>
        <p:spPr>
          <a:xfrm>
            <a:off x="334600" y="-13275"/>
            <a:ext cx="4668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/>
              <a:t>Fundamentação Teórica</a:t>
            </a:r>
            <a:endParaRPr/>
          </a:p>
        </p:txBody>
      </p:sp>
      <p:sp>
        <p:nvSpPr>
          <p:cNvPr id="246" name="Google Shape;246;g2a0fe2b556f_0_53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7" name="Google Shape;247;g2a0fe2b556f_0_53"/>
          <p:cNvSpPr txBox="1"/>
          <p:nvPr>
            <p:ph idx="1" type="body"/>
          </p:nvPr>
        </p:nvSpPr>
        <p:spPr>
          <a:xfrm>
            <a:off x="923500" y="1556275"/>
            <a:ext cx="10878900" cy="4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248" name="Google Shape;248;g2a0fe2b556f_0_53"/>
          <p:cNvSpPr txBox="1"/>
          <p:nvPr>
            <p:ph idx="2" type="title"/>
          </p:nvPr>
        </p:nvSpPr>
        <p:spPr>
          <a:xfrm>
            <a:off x="2156175" y="3159000"/>
            <a:ext cx="7568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pt-BR" sz="3200">
                <a:latin typeface="Oswald"/>
                <a:ea typeface="Oswald"/>
                <a:cs typeface="Oswald"/>
                <a:sym typeface="Oswald"/>
              </a:rPr>
              <a:t>Teste de interoperabilidade usando a </a:t>
            </a:r>
            <a:r>
              <a:rPr b="1" lang="pt-BR" sz="32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ALEXA</a:t>
            </a:r>
            <a:endParaRPr b="1" sz="320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91210b55b8_0_118"/>
          <p:cNvSpPr txBox="1"/>
          <p:nvPr>
            <p:ph type="title"/>
          </p:nvPr>
        </p:nvSpPr>
        <p:spPr>
          <a:xfrm>
            <a:off x="6389425" y="2725700"/>
            <a:ext cx="46086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pt-BR"/>
              <a:t>Obrigada!</a:t>
            </a:r>
            <a:endParaRPr/>
          </a:p>
        </p:txBody>
      </p:sp>
      <p:sp>
        <p:nvSpPr>
          <p:cNvPr id="255" name="Google Shape;255;g191210b55b8_0_118"/>
          <p:cNvSpPr txBox="1"/>
          <p:nvPr>
            <p:ph idx="12" type="sldNum"/>
          </p:nvPr>
        </p:nvSpPr>
        <p:spPr>
          <a:xfrm>
            <a:off x="11568608" y="6273376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6" name="Google Shape;256;g191210b55b8_0_118"/>
          <p:cNvSpPr txBox="1"/>
          <p:nvPr>
            <p:ph idx="1" type="subTitle"/>
          </p:nvPr>
        </p:nvSpPr>
        <p:spPr>
          <a:xfrm>
            <a:off x="6389425" y="3797975"/>
            <a:ext cx="517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/>
              <a:t>Karina da Silva Castelo Branco </a:t>
            </a:r>
            <a:br>
              <a:rPr b="1" lang="pt-BR"/>
            </a:br>
            <a:r>
              <a:rPr lang="pt-BR"/>
              <a:t>karinascbranco@alu.ufc.br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lo GREat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</cp:coreProperties>
</file>